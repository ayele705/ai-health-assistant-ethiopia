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5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54880" y="0"/>
            <a:ext cx="73152" cy="6858000"/>
          </a:xfrm>
          <a:prstGeom prst="rect">
            <a:avLst/>
          </a:prstGeom>
          <a:solidFill>
            <a:srgbClr val="4DC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9144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Calibri"/>
              </a:rPr>
              <a:t>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94560"/>
            <a:ext cx="4206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AI Health
Assistant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931920"/>
            <a:ext cx="3291840" cy="54864"/>
          </a:xfrm>
          <a:prstGeom prst="rect">
            <a:avLst/>
          </a:prstGeom>
          <a:solidFill>
            <a:srgbClr val="4DC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411480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8F5EE"/>
                </a:solidFill>
                <a:latin typeface="Calibri"/>
              </a:rPr>
              <a:t>Rural Ethiopia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6634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F5EE"/>
                </a:solidFill>
                <a:latin typeface="Calibri"/>
              </a:rPr>
              <a:t>May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731520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7A4A"/>
                </a:solidFill>
                <a:latin typeface="Calibri"/>
              </a:rPr>
              <a:t>Group Members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1325880"/>
            <a:ext cx="6400800" cy="3657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20640" y="1508760"/>
            <a:ext cx="64008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158191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A4A"/>
                </a:solidFill>
                <a:latin typeface="Calibri"/>
              </a:rP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15819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E1A"/>
                </a:solidFill>
                <a:latin typeface="Calibri"/>
              </a:rPr>
              <a:t>AYELE MOGES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5819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GUR/01091/16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2002536"/>
            <a:ext cx="6400800" cy="475488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0" y="207568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A4A"/>
                </a:solidFill>
                <a:latin typeface="Calibri"/>
              </a:rPr>
              <a:t>2.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0756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E1A"/>
                </a:solidFill>
                <a:latin typeface="Calibri"/>
              </a:rPr>
              <a:t>BIRIHANEKULU TAFERE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0756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GUR/01115/16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0" y="2496312"/>
            <a:ext cx="64008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256946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A4A"/>
                </a:solidFill>
                <a:latin typeface="Calibri"/>
              </a:rPr>
              <a:t>3.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256946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E1A"/>
                </a:solidFill>
                <a:latin typeface="Calibri"/>
              </a:rPr>
              <a:t>AMARE MINAYEHU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56946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GUR/22885/16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0" y="2990088"/>
            <a:ext cx="6400800" cy="475488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0" y="306324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A4A"/>
                </a:solidFill>
                <a:latin typeface="Calibri"/>
              </a:rPr>
              <a:t>4.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30632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E1A"/>
                </a:solidFill>
                <a:latin typeface="Calibri"/>
              </a:rPr>
              <a:t>BEZAWIT DESALEGN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0632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GUR/01199/16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0" y="3483864"/>
            <a:ext cx="64008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0" y="355701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A4A"/>
                </a:solidFill>
                <a:latin typeface="Calibri"/>
              </a:rPr>
              <a:t>5.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355701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E1A"/>
                </a:solidFill>
                <a:latin typeface="Calibri"/>
              </a:rPr>
              <a:t>TIGIST MARKOS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55701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GUR/00475/16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429768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AI-Based Health Assistant for Improving Healthcare Access in Rural Ethiopia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0" cy="1371600"/>
          </a:xfrm>
          <a:prstGeom prst="rect">
            <a:avLst/>
          </a:prstGeom>
          <a:solidFill>
            <a:srgbClr val="15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4864"/>
          </a:xfrm>
          <a:prstGeom prst="rect">
            <a:avLst/>
          </a:prstGeom>
          <a:solidFill>
            <a:srgbClr val="4DC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Healthcare Crisis in Rural Ethiopia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22960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5EE"/>
                </a:solidFill>
                <a:latin typeface="Calibri"/>
              </a:rPr>
              <a:t>Why an AI Health Assistant is urgently needed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2560320" cy="1828800"/>
          </a:xfrm>
          <a:prstGeom prst="rect">
            <a:avLst/>
          </a:prstGeom>
          <a:solidFill>
            <a:srgbClr val="FFEBEE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0392B"/>
                </a:solidFill>
                <a:latin typeface="Calibri"/>
              </a:rPr>
              <a:t>&lt;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E1A"/>
                </a:solidFill>
                <a:latin typeface="Calibri"/>
              </a:rPr>
              <a:t>Physician per 10,000 people
(WHO target: 23)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463040"/>
            <a:ext cx="2560320" cy="1828800"/>
          </a:xfrm>
          <a:prstGeom prst="rect">
            <a:avLst/>
          </a:prstGeom>
          <a:solidFill>
            <a:srgbClr val="FFEBEE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5544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0392B"/>
                </a:solidFill>
                <a:latin typeface="Calibri"/>
              </a:rPr>
              <a:t>80%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3774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E1A"/>
                </a:solidFill>
                <a:latin typeface="Calibri"/>
              </a:rPr>
              <a:t>Population lives in rural areas
far from health facilities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463040"/>
            <a:ext cx="2560320" cy="1828800"/>
          </a:xfrm>
          <a:prstGeom prst="rect">
            <a:avLst/>
          </a:prstGeom>
          <a:solidFill>
            <a:srgbClr val="FFEBEE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5544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0392B"/>
                </a:solidFill>
                <a:latin typeface="Calibri"/>
              </a:rPr>
              <a:t>401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79" y="23774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E1A"/>
                </a:solidFill>
                <a:latin typeface="Calibri"/>
              </a:rPr>
              <a:t>Maternal deaths per 100,000
live births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1463040"/>
            <a:ext cx="2560320" cy="1828800"/>
          </a:xfrm>
          <a:prstGeom prst="rect">
            <a:avLst/>
          </a:prstGeom>
          <a:solidFill>
            <a:srgbClr val="FFEBEE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15544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0392B"/>
                </a:solidFill>
                <a:latin typeface="Calibri"/>
              </a:rPr>
              <a:t>55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19" y="23774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E1A"/>
                </a:solidFill>
                <a:latin typeface="Calibri"/>
              </a:rPr>
              <a:t>Under-5 deaths per 1,000
live births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336" y="3511296"/>
            <a:ext cx="11430000" cy="3017520"/>
          </a:xfrm>
          <a:prstGeom prst="rect">
            <a:avLst/>
          </a:prstGeom>
          <a:solidFill>
            <a:srgbClr val="CCD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474720"/>
            <a:ext cx="1143000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474720"/>
            <a:ext cx="54864" cy="301752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566160"/>
            <a:ext cx="11109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A4A"/>
                </a:solidFill>
                <a:latin typeface="Calibri"/>
              </a:rPr>
              <a:t>Key Barriers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977639"/>
            <a:ext cx="11064240" cy="18288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069080"/>
            <a:ext cx="110825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Geographic isolation — patients walk 30+ km to reach care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4407408"/>
            <a:ext cx="110825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Severe shortage of health professionals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4745736"/>
            <a:ext cx="110825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Low health literacy and awareness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5084064"/>
            <a:ext cx="110825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80+ languages in Ethiopia — system supports 5 major ones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5422392"/>
            <a:ext cx="110825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Unreliable internet connectivity in remote areas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0" cy="1371600"/>
          </a:xfrm>
          <a:prstGeom prst="rect">
            <a:avLst/>
          </a:prstGeom>
          <a:solidFill>
            <a:srgbClr val="15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4864"/>
          </a:xfrm>
          <a:prstGeom prst="rect">
            <a:avLst/>
          </a:prstGeom>
          <a:solidFill>
            <a:srgbClr val="4DC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Solution: AI Health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22960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5EE"/>
                </a:solidFill>
                <a:latin typeface="Calibri"/>
              </a:rPr>
              <a:t>A mobile-accessible, multilingual AI system for rural communities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11430000" cy="914400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E1A"/>
                </a:solidFill>
                <a:latin typeface="Calibri"/>
              </a:rPr>
              <a:t>A conversational AI system that brings health guidance directly to rural communities — in their own language, on any device, with or without internet.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60320"/>
            <a:ext cx="3657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51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A4A"/>
                </a:solidFill>
                <a:latin typeface="Calibri"/>
              </a:rPr>
              <a:t>🩺 Symptom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0896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1A"/>
                </a:solidFill>
                <a:latin typeface="Calibri"/>
              </a:rPr>
              <a:t>Conversational chat in 5 languages
with urgency classification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560320"/>
            <a:ext cx="3657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651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A4A"/>
                </a:solidFill>
                <a:latin typeface="Calibri"/>
              </a:rPr>
              <a:t>📱 Works on Any Device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10896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1A"/>
                </a:solidFill>
                <a:latin typeface="Calibri"/>
              </a:rPr>
              <a:t>Smartphone app + USSD
for feature phones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560320"/>
            <a:ext cx="3657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651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A4A"/>
                </a:solidFill>
                <a:latin typeface="Calibri"/>
              </a:rPr>
              <a:t>📴 Offline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10896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1A"/>
                </a:solidFill>
                <a:latin typeface="Calibri"/>
              </a:rPr>
              <a:t>Works without internet
syncs when connected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480560"/>
            <a:ext cx="3657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572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A4A"/>
                </a:solidFill>
                <a:latin typeface="Calibri"/>
              </a:rPr>
              <a:t>💬 SMS Reminders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02920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1A"/>
                </a:solidFill>
                <a:latin typeface="Calibri"/>
              </a:rPr>
              <a:t>Medication, appointment
and danger alerts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4480560"/>
            <a:ext cx="3657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4572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A4A"/>
                </a:solidFill>
                <a:latin typeface="Calibri"/>
              </a:rPr>
              <a:t>📊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502920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1A"/>
                </a:solidFill>
                <a:latin typeface="Calibri"/>
              </a:rPr>
              <a:t>Outbreak detection
and DHIS2 reporting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4480560"/>
            <a:ext cx="3657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4572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A4A"/>
                </a:solidFill>
                <a:latin typeface="Calibri"/>
              </a:rPr>
              <a:t>🧠 New Programs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502920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1A"/>
                </a:solidFill>
                <a:latin typeface="Calibri"/>
              </a:rPr>
              <a:t>Mental health, chronic disease
nutrition, supply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0" cy="1371600"/>
          </a:xfrm>
          <a:prstGeom prst="rect">
            <a:avLst/>
          </a:prstGeom>
          <a:solidFill>
            <a:srgbClr val="15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4864"/>
          </a:xfrm>
          <a:prstGeom prst="rect">
            <a:avLst/>
          </a:prstGeom>
          <a:solidFill>
            <a:srgbClr val="4DC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5 Ethiopian Languages Supported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22960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5EE"/>
                </a:solidFill>
                <a:latin typeface="Calibri"/>
              </a:rPr>
              <a:t>Reaching 80%+ of Ethiopia's population with full native translations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828800"/>
            <a:ext cx="2926080" cy="1737360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19202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7A4A"/>
                </a:solidFill>
                <a:latin typeface="Calibri"/>
              </a:rPr>
              <a:t>🇪🇹 Amharic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5146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E1A"/>
                </a:solidFill>
                <a:latin typeface="Calibri"/>
              </a:rPr>
              <a:t>32M speakers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9260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Ethiopic script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828800"/>
            <a:ext cx="2926080" cy="1737360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9202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7A4A"/>
                </a:solidFill>
                <a:latin typeface="Calibri"/>
              </a:rPr>
              <a:t>🇪🇹 Oromo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5146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E1A"/>
                </a:solidFill>
                <a:latin typeface="Calibri"/>
              </a:rPr>
              <a:t>40M speakers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9260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Latin script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828800"/>
            <a:ext cx="2926080" cy="1737360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19202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7A4A"/>
                </a:solidFill>
                <a:latin typeface="Calibri"/>
              </a:rPr>
              <a:t>🇪🇹 Tigrinya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25146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E1A"/>
                </a:solidFill>
                <a:latin typeface="Calibri"/>
              </a:rPr>
              <a:t>7M speakers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29260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Ethiopic script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3840480"/>
            <a:ext cx="2926080" cy="1737360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08760" y="39319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7A4A"/>
                </a:solidFill>
                <a:latin typeface="Calibri"/>
              </a:rPr>
              <a:t>🇪🇹 Sidama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5262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E1A"/>
                </a:solidFill>
                <a:latin typeface="Calibri"/>
              </a:rPr>
              <a:t>4M speakers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9377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Latin script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3840480"/>
            <a:ext cx="2926080" cy="1737360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39319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7A4A"/>
                </a:solidFill>
                <a:latin typeface="Calibri"/>
              </a:rPr>
              <a:t>🌍 English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45262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E1A"/>
                </a:solidFill>
                <a:latin typeface="Calibri"/>
              </a:rPr>
              <a:t>International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49377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Latin script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0" cy="1371600"/>
          </a:xfrm>
          <a:prstGeom prst="rect">
            <a:avLst/>
          </a:prstGeom>
          <a:solidFill>
            <a:srgbClr val="15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4864"/>
          </a:xfrm>
          <a:prstGeom prst="rect">
            <a:avLst/>
          </a:prstGeom>
          <a:solidFill>
            <a:srgbClr val="4DC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Phase 1: Core Health Assistance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22960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5EE"/>
                </a:solidFill>
                <a:latin typeface="Calibri"/>
              </a:rPr>
              <a:t>Symptom assessment, medication lookup, facility finder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" y="1499616"/>
            <a:ext cx="5486400" cy="2560320"/>
          </a:xfrm>
          <a:prstGeom prst="rect">
            <a:avLst/>
          </a:prstGeom>
          <a:solidFill>
            <a:srgbClr val="CCD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4864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54864" cy="256032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A4A"/>
                </a:solidFill>
                <a:latin typeface="Calibri"/>
              </a:rPr>
              <a:t>🩺 Symptom Assessment Chat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65960"/>
            <a:ext cx="5120640" cy="18288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057400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Conversational 5-question interview in user's language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395728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Returns top 3 matching conditions with confidence scores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734056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Urgency: Emergency / Visit Health Center / Self-Care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3072384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Emergency sign detection with immediate alerts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63056" y="1499616"/>
            <a:ext cx="5486400" cy="2560320"/>
          </a:xfrm>
          <a:prstGeom prst="rect">
            <a:avLst/>
          </a:prstGeom>
          <a:solidFill>
            <a:srgbClr val="CCD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463040"/>
            <a:ext cx="54864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463040"/>
            <a:ext cx="54864" cy="256032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55448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A4A"/>
                </a:solidFill>
                <a:latin typeface="Calibri"/>
              </a:rPr>
              <a:t>💊 Medication Lookup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965960"/>
            <a:ext cx="5120640" cy="18288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2057400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Search by name, generic name, or condition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2395728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WHO essential medicines flagged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2734056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Dosage and safety information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3072384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Available offline after first load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336" y="4242816"/>
            <a:ext cx="5486400" cy="2286000"/>
          </a:xfrm>
          <a:prstGeom prst="rect">
            <a:avLst/>
          </a:prstGeom>
          <a:solidFill>
            <a:srgbClr val="CCD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4206240"/>
            <a:ext cx="54864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4206240"/>
            <a:ext cx="54864" cy="22860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297679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A4A"/>
                </a:solidFill>
                <a:latin typeface="Calibri"/>
              </a:rPr>
              <a:t>🏥 Facility Finder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709159"/>
            <a:ext cx="5120640" cy="18288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4800600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GPS-based nearest facility search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5138928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Distance, phone number, facility type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5477256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Referral chain guidance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5815584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20+ facilities across 7 regions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3056" y="4242816"/>
            <a:ext cx="5486400" cy="2286000"/>
          </a:xfrm>
          <a:prstGeom prst="rect">
            <a:avLst/>
          </a:prstGeom>
          <a:solidFill>
            <a:srgbClr val="CCD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80" y="4206240"/>
            <a:ext cx="54864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6480" y="4206240"/>
            <a:ext cx="54864" cy="22860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4297679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A4A"/>
                </a:solidFill>
                <a:latin typeface="Calibri"/>
              </a:rPr>
              <a:t>📚 Health Education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4709159"/>
            <a:ext cx="5120640" cy="18288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91072" y="4800600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Categorized tips in 5 languages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91072" y="5138928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Audio playback for low-literacy users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1072" y="5477256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Disease prevention and self-care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91072" y="5815584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Offline available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0" cy="1371600"/>
          </a:xfrm>
          <a:prstGeom prst="rect">
            <a:avLst/>
          </a:prstGeom>
          <a:solidFill>
            <a:srgbClr val="15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4864"/>
          </a:xfrm>
          <a:prstGeom prst="rect">
            <a:avLst/>
          </a:prstGeom>
          <a:solidFill>
            <a:srgbClr val="4DC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Phase 2: Community Health Worker (CHW)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22960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5EE"/>
                </a:solidFill>
                <a:latin typeface="Calibri"/>
              </a:rPr>
              <a:t>Digital tools for Health Extension Workers (HEWs)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" y="1499616"/>
            <a:ext cx="5486400" cy="2286000"/>
          </a:xfrm>
          <a:prstGeom prst="rect">
            <a:avLst/>
          </a:prstGeom>
          <a:solidFill>
            <a:srgbClr val="CCD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4864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54864" cy="22860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A4A"/>
                </a:solidFill>
                <a:latin typeface="Calibri"/>
              </a:rPr>
              <a:t>📏 Growth Monitoring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65960"/>
            <a:ext cx="5120640" cy="18288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057400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Mid-Upper Arm Circumference (MUAC), weight-for-age, height-for-age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395728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Severe Acute Malnutrition (SAM) / Moderate Acute Malnutrition (MAM) / Normal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734056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Growth trend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3072384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Automatic referral trigger for SAM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63056" y="1499616"/>
            <a:ext cx="5486400" cy="2286000"/>
          </a:xfrm>
          <a:prstGeom prst="rect">
            <a:avLst/>
          </a:prstGeom>
          <a:solidFill>
            <a:srgbClr val="CCD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463040"/>
            <a:ext cx="54864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463040"/>
            <a:ext cx="54864" cy="22860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55448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A4A"/>
                </a:solidFill>
                <a:latin typeface="Calibri"/>
              </a:rPr>
              <a:t>💉 Vaccination Tracker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965960"/>
            <a:ext cx="5120640" cy="18288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2057400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Ethiopia Expanded Programme on Immunization (EPI) schedule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2395728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Due date alerts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2734056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Coverage tracking per kebele (village)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3072384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Missed vaccine follow-up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336" y="3968496"/>
            <a:ext cx="5486400" cy="2286000"/>
          </a:xfrm>
          <a:prstGeom prst="rect">
            <a:avLst/>
          </a:prstGeom>
          <a:solidFill>
            <a:srgbClr val="CCD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931920"/>
            <a:ext cx="54864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931920"/>
            <a:ext cx="54864" cy="22860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023359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A4A"/>
                </a:solidFill>
                <a:latin typeface="Calibri"/>
              </a:rPr>
              <a:t>🤰 Pregnancy Follow-up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434840"/>
            <a:ext cx="5120640" cy="18288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4526280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8 Antenatal Care (ANC) visit scheduling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4864608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Blood pressure danger sign detection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5202936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Estimated Due Date (EDD) calculation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5541264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Danger sign SMS alerts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3056" y="3968496"/>
            <a:ext cx="5486400" cy="2286000"/>
          </a:xfrm>
          <a:prstGeom prst="rect">
            <a:avLst/>
          </a:prstGeom>
          <a:solidFill>
            <a:srgbClr val="CCD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80" y="3931920"/>
            <a:ext cx="54864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6480" y="3931920"/>
            <a:ext cx="54864" cy="22860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4023359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A4A"/>
                </a:solidFill>
                <a:latin typeface="Calibri"/>
              </a:rPr>
              <a:t>📋 Health Extension Worker (HEW) Checklists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4434840"/>
            <a:ext cx="5120640" cy="18288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91072" y="4526280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Newborn care checklist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91072" y="4864608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Sick child assessment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1072" y="5202936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Postnatal follow-up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91072" y="5541264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Digital submission and tracking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0" cy="1371600"/>
          </a:xfrm>
          <a:prstGeom prst="rect">
            <a:avLst/>
          </a:prstGeom>
          <a:solidFill>
            <a:srgbClr val="15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4864"/>
          </a:xfrm>
          <a:prstGeom prst="rect">
            <a:avLst/>
          </a:prstGeom>
          <a:solidFill>
            <a:srgbClr val="4DC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Phase 3 &amp; 4: SMS Reminders +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22960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5EE"/>
                </a:solidFill>
                <a:latin typeface="Calibri"/>
              </a:rPr>
              <a:t>Africa's Talking SMS integration + District Health Information System (DHIS2) reporting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" y="1499616"/>
            <a:ext cx="5486400" cy="2926080"/>
          </a:xfrm>
          <a:prstGeom prst="rect">
            <a:avLst/>
          </a:prstGeom>
          <a:solidFill>
            <a:srgbClr val="CCD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48640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54864" cy="292608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A4A"/>
                </a:solidFill>
                <a:latin typeface="Calibri"/>
              </a:rPr>
              <a:t>📱 Short Message Service (SMS) &amp; Reminders (Phase 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65960"/>
            <a:ext cx="5120640" cy="18288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057400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Daily medication reminders via Africa's Talking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395728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Appointment reminders 24 hours before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734056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Danger sign alerts to patient and contacts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3072384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Inbound SMS symptom assessment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410712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Unstructured Supplementary Service Data (USSD) feature-phone access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63056" y="1499616"/>
            <a:ext cx="5486400" cy="2194560"/>
          </a:xfrm>
          <a:prstGeom prst="rect">
            <a:avLst/>
          </a:prstGeom>
          <a:solidFill>
            <a:srgbClr val="CCD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463040"/>
            <a:ext cx="54864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463040"/>
            <a:ext cx="54864" cy="219456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55448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A4A"/>
                </a:solidFill>
                <a:latin typeface="Calibri"/>
              </a:rPr>
              <a:t>📊 Analytics Dashboard (Phase 4)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965960"/>
            <a:ext cx="5120640" cy="18288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2057400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Total consultations by urgency level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2395728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Growth/nutrition status trends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2734056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Vaccination coverage rates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1072" y="3072384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Pregnancy and Antenatal Care (ANC) completion rates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3056" y="3877056"/>
            <a:ext cx="5486400" cy="2651760"/>
          </a:xfrm>
          <a:prstGeom prst="rect">
            <a:avLst/>
          </a:prstGeom>
          <a:solidFill>
            <a:srgbClr val="CCD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80" y="3840480"/>
            <a:ext cx="548640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0" y="3840480"/>
            <a:ext cx="54864" cy="265176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393192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A4A"/>
                </a:solidFill>
                <a:latin typeface="Calibri"/>
              </a:rPr>
              <a:t>🦠 Outbreak Detection + DHIS2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4343400"/>
            <a:ext cx="5120640" cy="18288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1072" y="4434840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Disease spike detection algorithm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91072" y="4773168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Regional alert generation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1072" y="5111496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Automatic District Health Information System (DHIS2) data export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91072" y="5449824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Push to Ethiopia's national Health Management Information System (HMIS)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0" cy="1371600"/>
          </a:xfrm>
          <a:prstGeom prst="rect">
            <a:avLst/>
          </a:prstGeom>
          <a:solidFill>
            <a:srgbClr val="15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4864"/>
          </a:xfrm>
          <a:prstGeom prst="rect">
            <a:avLst/>
          </a:prstGeom>
          <a:solidFill>
            <a:srgbClr val="4DC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Phase 5: New Health Programs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22960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5EE"/>
                </a:solidFill>
                <a:latin typeface="Calibri"/>
              </a:rPr>
              <a:t>Mental health, chronic disease, nutrition, supply tracking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" y="1499616"/>
            <a:ext cx="5486400" cy="2286000"/>
          </a:xfrm>
          <a:prstGeom prst="rect">
            <a:avLst/>
          </a:prstGeom>
          <a:solidFill>
            <a:srgbClr val="CCD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4864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54864" cy="22860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A4A"/>
                </a:solidFill>
                <a:latin typeface="Calibri"/>
              </a:rPr>
              <a:t>🧠 Mental Health Screening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65960"/>
            <a:ext cx="5120640" cy="18288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057400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Patient Health Questionnaire-2 (PHQ-2) depression screen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395728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Generalized Anxiety Disorder-2 (GAD-2) anxiety screen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734056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Culturally adapted messaging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3072384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Crisis response with hotline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63056" y="1499616"/>
            <a:ext cx="5486400" cy="2286000"/>
          </a:xfrm>
          <a:prstGeom prst="rect">
            <a:avLst/>
          </a:prstGeom>
          <a:solidFill>
            <a:srgbClr val="CCD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463040"/>
            <a:ext cx="54864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463040"/>
            <a:ext cx="54864" cy="22860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55448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A4A"/>
                </a:solidFill>
                <a:latin typeface="Calibri"/>
              </a:rPr>
              <a:t>🩺 Chronic Disease Management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965960"/>
            <a:ext cx="5120640" cy="18288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2057400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Blood pressure classification (5 stages)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2395728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Blood glucose assessment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2734056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Medication adherence reminders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3072384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Self-monitoring checklists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336" y="3968496"/>
            <a:ext cx="5486400" cy="2286000"/>
          </a:xfrm>
          <a:prstGeom prst="rect">
            <a:avLst/>
          </a:prstGeom>
          <a:solidFill>
            <a:srgbClr val="CCD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931920"/>
            <a:ext cx="54864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931920"/>
            <a:ext cx="54864" cy="22860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023359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A4A"/>
                </a:solidFill>
                <a:latin typeface="Calibri"/>
              </a:rPr>
              <a:t>🥗 Nutrition Counseling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434840"/>
            <a:ext cx="5120640" cy="18288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4526280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Infant and Young Child Feeding (IYCF) guidance by 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4864608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SAM/MAM therapeutic feeding protocols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5202936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Micronutrient deficiency guidance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5541264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Malnutrition risk assessment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3056" y="3968496"/>
            <a:ext cx="5486400" cy="2286000"/>
          </a:xfrm>
          <a:prstGeom prst="rect">
            <a:avLst/>
          </a:prstGeom>
          <a:solidFill>
            <a:srgbClr val="CCD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80" y="3931920"/>
            <a:ext cx="54864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6480" y="3931920"/>
            <a:ext cx="54864" cy="22860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4023359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A4A"/>
                </a:solidFill>
                <a:latin typeface="Calibri"/>
              </a:rPr>
              <a:t>📦 Supply Chain Tracking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4434840"/>
            <a:ext cx="5120640" cy="18288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91072" y="4526280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15 essential supply items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91072" y="4864608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Shortage detection and alerts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1072" y="5202936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Health Extension Worker (HEW) stock reporting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91072" y="5541264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Urgent resupply notifications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0" cy="1371600"/>
          </a:xfrm>
          <a:prstGeom prst="rect">
            <a:avLst/>
          </a:prstGeom>
          <a:solidFill>
            <a:srgbClr val="15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4864"/>
          </a:xfrm>
          <a:prstGeom prst="rect">
            <a:avLst/>
          </a:prstGeom>
          <a:solidFill>
            <a:srgbClr val="4DC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Medical Knowledge 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22960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5EE"/>
                </a:solidFill>
                <a:latin typeface="Calibri"/>
              </a:rPr>
              <a:t>50+ conditions · 25 traditional remedies · 5 languages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2651760" cy="3200400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A4A"/>
                </a:solidFill>
                <a:latin typeface="Calibri"/>
              </a:rPr>
              <a:t>🦟 Infectious Diseases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1A"/>
                </a:solidFill>
                <a:latin typeface="Calibri"/>
              </a:rPr>
              <a:t>• Malaria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871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1A"/>
                </a:solidFill>
                <a:latin typeface="Calibri"/>
              </a:rPr>
              <a:t>• Tuberculosis (TB)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71215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1A"/>
                </a:solidFill>
                <a:latin typeface="Calibri"/>
              </a:rPr>
              <a:t>• Pneumonia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255263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1A"/>
                </a:solidFill>
                <a:latin typeface="Calibri"/>
              </a:rPr>
              <a:t>• Typhoid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639311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1A"/>
                </a:solidFill>
                <a:latin typeface="Calibri"/>
              </a:rPr>
              <a:t>• HIV/AIDS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02335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1A"/>
                </a:solidFill>
                <a:latin typeface="Calibri"/>
              </a:rPr>
              <a:t>• Meningitis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463040"/>
            <a:ext cx="2651760" cy="3200400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A4A"/>
                </a:solidFill>
                <a:latin typeface="Calibri"/>
              </a:rPr>
              <a:t>🤰 Maternal Health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103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1A"/>
                </a:solidFill>
                <a:latin typeface="Calibri"/>
              </a:rPr>
              <a:t>• Preeclampsia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24871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1A"/>
                </a:solidFill>
                <a:latin typeface="Calibri"/>
              </a:rPr>
              <a:t>• Postpartum Hemorrhage (PPH)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2871215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1A"/>
                </a:solidFill>
                <a:latin typeface="Calibri"/>
              </a:rPr>
              <a:t>• Ectopic pregnancy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3255263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1A"/>
                </a:solidFill>
                <a:latin typeface="Calibri"/>
              </a:rPr>
              <a:t>• Pregnancy complications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463040"/>
            <a:ext cx="2651760" cy="3200400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79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A4A"/>
                </a:solidFill>
                <a:latin typeface="Calibri"/>
              </a:rPr>
              <a:t>👶 Child Health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103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1A"/>
                </a:solidFill>
                <a:latin typeface="Calibri"/>
              </a:rPr>
              <a:t>• Severe Acute Malnutrition (SAM)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24871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1A"/>
                </a:solidFill>
                <a:latin typeface="Calibri"/>
              </a:rPr>
              <a:t>• Dehydration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2871215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1A"/>
                </a:solidFill>
                <a:latin typeface="Calibri"/>
              </a:rPr>
              <a:t>• Measles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3255263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1A"/>
                </a:solidFill>
                <a:latin typeface="Calibri"/>
              </a:rPr>
              <a:t>• Whooping cough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69680" y="1463040"/>
            <a:ext cx="2651760" cy="3200400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19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A4A"/>
                </a:solidFill>
                <a:latin typeface="Calibri"/>
              </a:rPr>
              <a:t>💊 Chronic Diseases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2103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1A"/>
                </a:solidFill>
                <a:latin typeface="Calibri"/>
              </a:rPr>
              <a:t>• Hypertension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24871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1A"/>
                </a:solidFill>
                <a:latin typeface="Calibri"/>
              </a:rPr>
              <a:t>• Diabetes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2871215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1A"/>
                </a:solidFill>
                <a:latin typeface="Calibri"/>
              </a:rPr>
              <a:t>• Asthma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3255263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1A"/>
                </a:solidFill>
                <a:latin typeface="Calibri"/>
              </a:rPr>
              <a:t>• Anemia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2336" y="4882896"/>
            <a:ext cx="11430000" cy="1828800"/>
          </a:xfrm>
          <a:prstGeom prst="rect">
            <a:avLst/>
          </a:prstGeom>
          <a:solidFill>
            <a:srgbClr val="CCD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4846320"/>
            <a:ext cx="114300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4846320"/>
            <a:ext cx="54864" cy="18288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937759"/>
            <a:ext cx="11109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A4A"/>
                </a:solidFill>
                <a:latin typeface="Calibri"/>
              </a:rPr>
              <a:t>🌿 Traditional Medicine KB (25 Remedies)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349240"/>
            <a:ext cx="11064240" cy="18288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5440680"/>
            <a:ext cx="110825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Black cumin, Ginger, Turmeric, Garlic, Moringa, Aloe vera...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" y="5779008"/>
            <a:ext cx="110825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Safety notes and known drug interactions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" y="6117336"/>
            <a:ext cx="110825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Evidence level: Documented / Traditional / Unverified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" y="6455664"/>
            <a:ext cx="110825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Culturally respectful framing in all languages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0" cy="1371600"/>
          </a:xfrm>
          <a:prstGeom prst="rect">
            <a:avLst/>
          </a:prstGeom>
          <a:solidFill>
            <a:srgbClr val="15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4864"/>
          </a:xfrm>
          <a:prstGeom prst="rect">
            <a:avLst/>
          </a:prstGeom>
          <a:solidFill>
            <a:srgbClr val="4DC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Accessibility &amp; Ethics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22960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5EE"/>
                </a:solidFill>
                <a:latin typeface="Calibri"/>
              </a:rPr>
              <a:t>Designed for all users · Privacy by 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" y="1499616"/>
            <a:ext cx="5486400" cy="5029200"/>
          </a:xfrm>
          <a:prstGeom prst="rect">
            <a:avLst/>
          </a:prstGeom>
          <a:solidFill>
            <a:srgbClr val="CCD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4864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54864" cy="50292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A4A"/>
                </a:solidFill>
                <a:latin typeface="Calibri"/>
              </a:rPr>
              <a:t>♿ Accessibility Modes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65960"/>
            <a:ext cx="5120640" cy="18288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057400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🔊 Text-to-Speech (ElevenLabs human voice)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395728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🎤 Voice Input (Web Speech API + server fallback)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734056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👁️ Screen Reader Mode for blind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3072384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🔆 High Contrast for low vision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410712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📝 Large Text for elderly 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3749040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👂 Hearing Impairment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4087368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🟢 Simple Mode for low digital literacy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3056" y="1499616"/>
            <a:ext cx="5486400" cy="2377440"/>
          </a:xfrm>
          <a:prstGeom prst="rect">
            <a:avLst/>
          </a:prstGeom>
          <a:solidFill>
            <a:srgbClr val="CCD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1463040"/>
            <a:ext cx="54864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1463040"/>
            <a:ext cx="54864" cy="237744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55448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A4A"/>
                </a:solidFill>
                <a:latin typeface="Calibri"/>
              </a:rPr>
              <a:t>🔒 Data Protection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1965960"/>
            <a:ext cx="5120640" cy="18288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1072" y="2057400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Minimum data collection (symptoms, age, sex, language only)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1072" y="2395728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No names or phone numbers without explicit consent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2" y="2734056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AES-256 encryption for all patient records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072" y="3072384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Data deletion on request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63056" y="4059936"/>
            <a:ext cx="5486400" cy="2468880"/>
          </a:xfrm>
          <a:prstGeom prst="rect">
            <a:avLst/>
          </a:prstGeom>
          <a:solidFill>
            <a:srgbClr val="CCD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6480" y="4023360"/>
            <a:ext cx="54864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80" y="4023360"/>
            <a:ext cx="54864" cy="246888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411480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A4A"/>
                </a:solidFill>
                <a:latin typeface="Calibri"/>
              </a:rPr>
              <a:t>⚕️ Clinical Safety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526280"/>
            <a:ext cx="5120640" cy="18288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91072" y="4617720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Every result includes clinical disclaimer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91072" y="4956048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Low-confidence results redirect to health workers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1072" y="5294376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Emergency signs trigger immediate alerts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91072" y="5632704"/>
            <a:ext cx="5138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Minor protection built into safety module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0" cy="1371600"/>
          </a:xfrm>
          <a:prstGeom prst="rect">
            <a:avLst/>
          </a:prstGeom>
          <a:solidFill>
            <a:srgbClr val="156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4864"/>
          </a:xfrm>
          <a:prstGeom prst="rect">
            <a:avLst/>
          </a:prstGeom>
          <a:solidFill>
            <a:srgbClr val="4DC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Technical Achievements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22960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5EE"/>
                </a:solidFill>
                <a:latin typeface="Calibri"/>
              </a:rPr>
              <a:t>What was built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1737360" cy="1463040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A7A4A"/>
                </a:solidFill>
                <a:latin typeface="Calibri"/>
              </a:rPr>
              <a:t>60+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2860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E1A"/>
                </a:solidFill>
                <a:latin typeface="Calibri"/>
              </a:rPr>
              <a:t>API Endpoints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1463040"/>
            <a:ext cx="1737360" cy="1463040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15544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A7A4A"/>
                </a:solidFill>
                <a:latin typeface="Calibri"/>
              </a:rPr>
              <a:t>25+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2860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E1A"/>
                </a:solidFill>
                <a:latin typeface="Calibri"/>
              </a:rPr>
              <a:t>Database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463040"/>
            <a:ext cx="1737360" cy="1463040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15544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A7A4A"/>
                </a:solidFill>
                <a:latin typeface="Calibri"/>
              </a:rPr>
              <a:t>30+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59" y="22860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E1A"/>
                </a:solidFill>
                <a:latin typeface="Calibri"/>
              </a:rPr>
              <a:t>React Components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79" y="1463040"/>
            <a:ext cx="1737360" cy="1463040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79" y="15544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A7A4A"/>
                </a:solidFill>
                <a:latin typeface="Calibri"/>
              </a:rPr>
              <a:t>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199" y="22860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E1A"/>
                </a:solidFill>
                <a:latin typeface="Calibri"/>
              </a:rPr>
              <a:t>Core Engines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19" y="1463040"/>
            <a:ext cx="1737360" cy="1463040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9" y="15544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A7A4A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22860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E1A"/>
                </a:solidFill>
                <a:latin typeface="Calibri"/>
              </a:rPr>
              <a:t>Languages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66959" y="1463040"/>
            <a:ext cx="1737360" cy="1463040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59" y="15544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A7A4A"/>
                </a:solidFill>
                <a:latin typeface="Calibri"/>
              </a:rPr>
              <a:t>50+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12680" y="22860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E1A"/>
                </a:solidFill>
                <a:latin typeface="Calibri"/>
              </a:rPr>
              <a:t>Conditions in KB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336" y="3236976"/>
            <a:ext cx="11430000" cy="3383280"/>
          </a:xfrm>
          <a:prstGeom prst="rect">
            <a:avLst/>
          </a:prstGeom>
          <a:solidFill>
            <a:srgbClr val="CCD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200400"/>
            <a:ext cx="1143000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200400"/>
            <a:ext cx="54864" cy="338328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291840"/>
            <a:ext cx="11109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A4A"/>
                </a:solidFill>
                <a:latin typeface="Calibri"/>
              </a:rPr>
              <a:t>🛠️ Technology Stack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703320"/>
            <a:ext cx="11064240" cy="18288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3794760"/>
            <a:ext cx="110825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Frontend: React 18, Progressive Web App (PWA), Web Speech API, TensorFlow.js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4133088"/>
            <a:ext cx="110825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Backend: Python 3, Django 4.2, Django REST Framework (DRF)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4471416"/>
            <a:ext cx="110825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Database: SQLite (development) / PostgreSQL (production)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4809744"/>
            <a:ext cx="110825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Short Message Service (SMS) / Unstructured Supplementary Service Data (USSD): Africa's Talking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" y="5148072"/>
            <a:ext cx="110825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Text-to-Speech (TTS): ElevenLabs (human voice) → Google TTS (fallback)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5486400"/>
            <a:ext cx="110825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Translation: Google Cloud Translation API + SQLite cache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5824728"/>
            <a:ext cx="110825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1A"/>
                </a:solidFill>
                <a:latin typeface="Calibri"/>
              </a:rPr>
              <a:t>  ›  Containerization: Docker, Docker Compose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🌿 Impact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356616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A4A"/>
                </a:solidFill>
                <a:latin typeface="Calibri"/>
              </a:rPr>
              <a:t>For Rural Communities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1A"/>
                </a:solidFill>
                <a:latin typeface="Calibri"/>
              </a:rPr>
              <a:t>✓ Immediate health guidance without traveling 30+ km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231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1A"/>
                </a:solidFill>
                <a:latin typeface="Calibri"/>
              </a:rPr>
              <a:t>✓ Emergency alerts reach family within 30 seconds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260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1A"/>
                </a:solidFill>
                <a:latin typeface="Calibri"/>
              </a:rPr>
              <a:t>✓ Health education in their own language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280160"/>
            <a:ext cx="356616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371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A4A"/>
                </a:solidFill>
                <a:latin typeface="Calibri"/>
              </a:rPr>
              <a:t>For Health Workers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9202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1A"/>
                </a:solidFill>
                <a:latin typeface="Calibri"/>
              </a:rPr>
              <a:t>✓ Digital checklists replace paper forms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4231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1A"/>
                </a:solidFill>
                <a:latin typeface="Calibri"/>
              </a:rPr>
              <a:t>✓ Growth monitoring with automatic classification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9260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1A"/>
                </a:solidFill>
                <a:latin typeface="Calibri"/>
              </a:rPr>
              <a:t>✓ Referral tracking with follow-up reminders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280160"/>
            <a:ext cx="356616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1371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A4A"/>
                </a:solidFill>
                <a:latin typeface="Calibri"/>
              </a:rPr>
              <a:t>For the Health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19202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1A"/>
                </a:solidFill>
                <a:latin typeface="Calibri"/>
              </a:rPr>
              <a:t>✓ Real-time disease surveillance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24231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1A"/>
                </a:solidFill>
                <a:latin typeface="Calibri"/>
              </a:rPr>
              <a:t>✓ Automated District Health Information System (DHIS2) reporting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29260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1A"/>
                </a:solidFill>
                <a:latin typeface="Calibri"/>
              </a:rPr>
              <a:t>✓ Supply shortage early warning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937760"/>
            <a:ext cx="11430000" cy="1554480"/>
          </a:xfrm>
          <a:prstGeom prst="rect">
            <a:avLst/>
          </a:prstGeom>
          <a:solidFill>
            <a:srgbClr val="0D4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029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"Technology alone cannot solve Ethiopia's healthcare crisis — but in the hands of community health workers and rural families, the right technology can save lives."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